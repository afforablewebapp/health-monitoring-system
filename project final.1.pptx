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F81182-0F92-4A4B-9CAB-AAA7DE080293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FCC0A-A06A-4FE9-84B5-02EA2AA2C0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847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FCC0A-A06A-4FE9-84B5-02EA2AA2C0E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76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902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7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309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752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78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75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241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0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263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77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5955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662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79578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92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536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ABB23-F005-4A51-8E40-5EDAD09D587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9958B41-8E5E-4C51-8EAB-AF9E2822EA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09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3FE27-EBBA-3A01-A7DD-71EABE8E1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242856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Project title: </a:t>
            </a:r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Smart health care system using IOT  </a:t>
            </a:r>
            <a:b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      </a:t>
            </a:r>
            <a:b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of: Dr Madhava Rao sir</a:t>
            </a:r>
            <a:b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               </a:t>
            </a:r>
            <a:b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r>
              <a:rPr lang="en-IN" b="1" dirty="0">
                <a:solidFill>
                  <a:schemeClr val="tx1"/>
                </a:solidFill>
                <a:latin typeface="Algerian" panose="04020705040A02060702" pitchFamily="8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D5C9C-B3C1-74B7-405D-BB7565830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2386" y="2851355"/>
            <a:ext cx="8241615" cy="3190007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/>
              <a:t>  </a:t>
            </a:r>
          </a:p>
          <a:p>
            <a:pPr marL="0" indent="0">
              <a:buNone/>
            </a:pPr>
            <a:r>
              <a:rPr lang="en-IN" sz="1600" b="1" dirty="0">
                <a:latin typeface="Algerian" panose="04020705040A02060702" pitchFamily="82" charset="0"/>
              </a:rPr>
              <a:t>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IN" sz="1600" b="1" dirty="0">
                <a:latin typeface="Algerian" panose="04020705040A02060702" pitchFamily="82" charset="0"/>
              </a:rPr>
              <a:t>                                                                                                                 </a:t>
            </a:r>
          </a:p>
          <a:p>
            <a:pPr marL="0" indent="0" algn="ctr">
              <a:buNone/>
            </a:pPr>
            <a:r>
              <a:rPr lang="en-IN" sz="1600" b="1" dirty="0">
                <a:latin typeface="Algerian" panose="04020705040A02060702" pitchFamily="82" charset="0"/>
              </a:rPr>
              <a:t>                                                                                                     </a:t>
            </a:r>
          </a:p>
          <a:p>
            <a:pPr marL="0" indent="0" algn="ctr">
              <a:buNone/>
            </a:pPr>
            <a:endParaRPr lang="en-IN" sz="1600" b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endParaRPr lang="en-IN" sz="1600" b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IN" sz="3800" b="1" dirty="0">
                <a:latin typeface="Algerian" panose="04020705040A02060702" pitchFamily="82" charset="0"/>
              </a:rPr>
              <a:t>         BY</a:t>
            </a:r>
          </a:p>
          <a:p>
            <a:pPr marL="0" indent="0" algn="ctr">
              <a:buNone/>
            </a:pPr>
            <a:r>
              <a:rPr lang="en-IN" sz="3800" b="1" dirty="0">
                <a:latin typeface="Algerian" panose="04020705040A02060702" pitchFamily="82" charset="0"/>
              </a:rPr>
              <a:t>           </a:t>
            </a:r>
            <a:r>
              <a:rPr lang="en-IN" sz="3800" b="1" dirty="0" err="1">
                <a:latin typeface="Algerian" panose="04020705040A02060702" pitchFamily="82" charset="0"/>
              </a:rPr>
              <a:t>G.Bhavana</a:t>
            </a:r>
            <a:endParaRPr lang="en-IN" sz="3800" b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IN" sz="3800" b="1" dirty="0">
                <a:latin typeface="Algerian" panose="04020705040A02060702" pitchFamily="82" charset="0"/>
              </a:rPr>
              <a:t>            2401600173</a:t>
            </a:r>
          </a:p>
          <a:p>
            <a:pPr marL="0" indent="0" algn="ctr">
              <a:buNone/>
            </a:pPr>
            <a:r>
              <a:rPr lang="en-IN" sz="3800" b="1" dirty="0">
                <a:latin typeface="Algerian" panose="04020705040A02060702" pitchFamily="82" charset="0"/>
              </a:rPr>
              <a:t>     </a:t>
            </a:r>
            <a:r>
              <a:rPr lang="en-IN" sz="3800" b="1" dirty="0" err="1">
                <a:latin typeface="Algerian" panose="04020705040A02060702" pitchFamily="82" charset="0"/>
              </a:rPr>
              <a:t>dept.mca</a:t>
            </a:r>
            <a:endParaRPr lang="en-IN" sz="3800" b="1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endParaRPr lang="en-IN" sz="3800" b="1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endParaRPr lang="en-IN" sz="3800" b="1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endParaRPr lang="en-IN" sz="1600" b="1" dirty="0"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IN" sz="1600" b="1" dirty="0">
                <a:latin typeface="Algerian" panose="04020705040A02060702" pitchFamily="82" charset="0"/>
              </a:rPr>
              <a:t>                                    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57581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9D1E9-322A-C635-5537-97332142D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solidFill>
                  <a:schemeClr val="accent4"/>
                </a:solidFill>
                <a:latin typeface="Algerian" panose="04020705040A02060702" pitchFamily="82" charset="0"/>
              </a:rPr>
              <a:t>Problem statement:</a:t>
            </a:r>
            <a:br>
              <a:rPr lang="en-IN" sz="2400" dirty="0">
                <a:solidFill>
                  <a:schemeClr val="accent4"/>
                </a:solidFill>
                <a:latin typeface="Algerian" panose="04020705040A02060702" pitchFamily="82" charset="0"/>
              </a:rPr>
            </a:br>
            <a:br>
              <a:rPr lang="en-IN" sz="2400" dirty="0">
                <a:solidFill>
                  <a:schemeClr val="accent4"/>
                </a:solidFill>
                <a:latin typeface="Algerian" panose="04020705040A02060702" pitchFamily="82" charset="0"/>
              </a:rPr>
            </a:br>
            <a:endParaRPr lang="en-IN" sz="2400" dirty="0">
              <a:solidFill>
                <a:schemeClr val="accent4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60666-5B1F-F90C-5915-BDF4862BF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385" y="1179870"/>
            <a:ext cx="9068617" cy="5142272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In traditional healthcare systems, patient vital signs such as heart rate, oxygen saturation (SpO₂), and body temperature are often monitored manually or using standalone devices. This approach does not support continuous monitoring, remote access, or real-time alerts, which can delay medical response during emergencies.</a:t>
            </a:r>
          </a:p>
          <a:p>
            <a:endParaRPr lang="en-US" dirty="0">
              <a:latin typeface="Algerian" panose="04020705040A02060702" pitchFamily="82" charset="0"/>
            </a:endParaRPr>
          </a:p>
          <a:p>
            <a:r>
              <a:rPr lang="en-IN" dirty="0">
                <a:solidFill>
                  <a:schemeClr val="accent1"/>
                </a:solidFill>
              </a:rPr>
              <a:t>Existing Issues / Limitations: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data is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monitored continuously</a:t>
            </a:r>
          </a:p>
          <a:p>
            <a:r>
              <a:rPr lang="en-US" sz="1600" dirty="0"/>
              <a:t>No </a:t>
            </a:r>
            <a:r>
              <a:rPr lang="en-US" sz="1600" b="1" dirty="0"/>
              <a:t>real-time alerts</a:t>
            </a:r>
            <a:r>
              <a:rPr lang="en-US" sz="1600" dirty="0"/>
              <a:t> during emergencies</a:t>
            </a:r>
          </a:p>
          <a:p>
            <a:r>
              <a:rPr lang="en-US" sz="1600" dirty="0"/>
              <a:t>Traditional systems are </a:t>
            </a:r>
            <a:r>
              <a:rPr lang="en-US" sz="1600" b="1" dirty="0"/>
              <a:t>not cloud-integrated</a:t>
            </a:r>
          </a:p>
          <a:p>
            <a:r>
              <a:rPr lang="en-IN" sz="1600" dirty="0">
                <a:solidFill>
                  <a:schemeClr val="accent1"/>
                </a:solidFill>
              </a:rPr>
              <a:t>Problem Needs a Solution:</a:t>
            </a:r>
          </a:p>
          <a:p>
            <a:r>
              <a:rPr lang="en-US" sz="1600" dirty="0"/>
              <a:t>Remote monitoring reduces </a:t>
            </a:r>
            <a:r>
              <a:rPr lang="en-US" sz="1600" b="1" dirty="0"/>
              <a:t>hospital workload</a:t>
            </a:r>
          </a:p>
          <a:p>
            <a:r>
              <a:rPr lang="en-US" sz="1600" dirty="0"/>
              <a:t>Cloud storage allows </a:t>
            </a:r>
            <a:r>
              <a:rPr lang="en-US" sz="1600" b="1" dirty="0"/>
              <a:t>real-time data access</a:t>
            </a:r>
          </a:p>
          <a:p>
            <a:r>
              <a:rPr lang="en-US" sz="1600" dirty="0"/>
              <a:t>Useful for </a:t>
            </a:r>
            <a:r>
              <a:rPr lang="en-US" sz="1600" b="1" dirty="0"/>
              <a:t>elderly care and rural healthcare</a:t>
            </a:r>
            <a:endParaRPr lang="en-IN" sz="160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713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518DB-F796-6905-680A-F8E65DF4B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431762"/>
          </a:xfrm>
        </p:spPr>
        <p:txBody>
          <a:bodyPr>
            <a:normAutofit/>
          </a:bodyPr>
          <a:lstStyle/>
          <a:p>
            <a:br>
              <a:rPr lang="en-IN" sz="2800" dirty="0">
                <a:solidFill>
                  <a:schemeClr val="tx2"/>
                </a:solidFill>
              </a:rPr>
            </a:br>
            <a:endParaRPr lang="en-IN" sz="24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8A641-9AAA-6992-CE99-C6FD28F68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chemeClr val="accent1"/>
                </a:solidFill>
              </a:rPr>
              <a:t>SCOPE OF PROJECT:</a:t>
            </a:r>
          </a:p>
          <a:p>
            <a:pPr marL="0" indent="0">
              <a:buNone/>
            </a:pPr>
            <a:endParaRPr lang="en-IN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Continuous monitoring of: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Heart Rate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SpO₂ (Blood Oxygen Level)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Body Temperature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Data collection using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ESP32 &amp; sensors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Real-time data upload to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Firebase Cloud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Live display of health data on a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web dashboard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6798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9867-D96A-3E5B-413E-60A5A043F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accent4"/>
                </a:solidFill>
              </a:rPr>
              <a:t>What Is NOT Included:</a:t>
            </a:r>
            <a:br>
              <a:rPr lang="en-IN" sz="3200" dirty="0">
                <a:solidFill>
                  <a:schemeClr val="accent4"/>
                </a:solidFill>
              </a:rPr>
            </a:br>
            <a:endParaRPr lang="en-IN" sz="3200" dirty="0">
              <a:solidFill>
                <a:schemeClr val="accent4"/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2838422-D460-368C-34BC-11CF2A58C9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782" y="1831014"/>
            <a:ext cx="992074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Medical diagnosis or treatment suggestions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alert system (SMS / Call)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AI or machine learning predictions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Hospital management or appointment systems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332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7044-70D2-54C5-710A-FC7D9491F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4"/>
                </a:solidFill>
              </a:rPr>
              <a:t>Target Users: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6D374-2DFC-52F1-BF38-E48B9FFC0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64775"/>
            <a:ext cx="10081339" cy="4271556"/>
          </a:xfrm>
        </p:spPr>
        <p:txBody>
          <a:bodyPr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Elderly users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Patients and doctors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IN" dirty="0"/>
              <a:t>Healthcare students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022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8D1C-0E88-D4EF-F1A2-4A9B4BD1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800" dirty="0">
                <a:solidFill>
                  <a:schemeClr val="accent3"/>
                </a:solidFill>
              </a:rPr>
              <a:t>Proposed Solution:</a:t>
            </a:r>
            <a:br>
              <a:rPr lang="en-IN" sz="2800" dirty="0">
                <a:solidFill>
                  <a:schemeClr val="accent3"/>
                </a:solidFill>
              </a:rPr>
            </a:br>
            <a:br>
              <a:rPr lang="en-IN" sz="2800" dirty="0">
                <a:solidFill>
                  <a:schemeClr val="accent3"/>
                </a:solidFill>
              </a:rPr>
            </a:br>
            <a:r>
              <a:rPr lang="en-IN" sz="2800" dirty="0"/>
              <a:t>Overview of the Solution:</a:t>
            </a:r>
            <a:br>
              <a:rPr lang="en-IN" sz="2800" dirty="0"/>
            </a:br>
            <a:endParaRPr lang="en-IN" sz="2800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7FC90-72E8-1CC4-4945-888B394A6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Smart Health Care Monitoring System is a cloud-based web application that continuously collects patient health parameters such as heart rate, SpO₂, and body temperature and displays them on a real-time dashboard.</a:t>
            </a:r>
            <a:br>
              <a:rPr lang="en-US" dirty="0"/>
            </a:br>
            <a:r>
              <a:rPr lang="en-US" dirty="0"/>
              <a:t>By using Firebase Realtime Database, the system ensures instant data updates, enabling timely monitoring and faster medical response.</a:t>
            </a:r>
          </a:p>
          <a:p>
            <a:endParaRPr lang="en-US" dirty="0"/>
          </a:p>
          <a:p>
            <a:r>
              <a:rPr lang="en-IN" dirty="0"/>
              <a:t>Key Features: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   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 Real-time display of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Heart Rate, SpO₂, and Temperature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b="1" dirty="0"/>
              <a:t>Cloud-based data storage</a:t>
            </a:r>
            <a:r>
              <a:rPr lang="en-US" dirty="0"/>
              <a:t> using Firebase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Secure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login and registration system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User-friendly and responsive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web dashboard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7275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52CA2-BAFF-7DE6-1C73-11C29AA81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64989" cy="6248400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chemeClr val="accent4"/>
                </a:solidFill>
              </a:rPr>
              <a:t>Innovation / Uniqueness:</a:t>
            </a:r>
            <a:br>
              <a:rPr lang="en-IN" dirty="0">
                <a:solidFill>
                  <a:schemeClr val="accent4"/>
                </a:solidFill>
              </a:rPr>
            </a:br>
            <a:br>
              <a:rPr lang="en-IN" dirty="0">
                <a:solidFill>
                  <a:schemeClr val="accent4"/>
                </a:solidFill>
              </a:rPr>
            </a:br>
            <a:r>
              <a:rPr lang="en-US" sz="3100" dirty="0">
                <a:solidFill>
                  <a:schemeClr val="accent3"/>
                </a:solidFill>
              </a:rPr>
              <a:t>Uses </a:t>
            </a:r>
            <a:r>
              <a:rPr lang="en-US" sz="3100" b="1" dirty="0">
                <a:solidFill>
                  <a:schemeClr val="accent3"/>
                </a:solidFill>
              </a:rPr>
              <a:t>real-time cloud technology</a:t>
            </a:r>
            <a:r>
              <a:rPr lang="en-US" sz="3100" dirty="0">
                <a:solidFill>
                  <a:schemeClr val="accent3"/>
                </a:solidFill>
              </a:rPr>
              <a:t> instead of manual health tracking</a:t>
            </a:r>
            <a:br>
              <a:rPr lang="en-US" sz="3100" dirty="0">
                <a:solidFill>
                  <a:schemeClr val="accent3"/>
                </a:solidFill>
              </a:rPr>
            </a:br>
            <a:br>
              <a:rPr lang="en-US" sz="3100" dirty="0">
                <a:solidFill>
                  <a:schemeClr val="accent3"/>
                </a:solidFill>
              </a:rPr>
            </a:br>
            <a:r>
              <a:rPr lang="en-US" sz="3200" dirty="0">
                <a:solidFill>
                  <a:schemeClr val="accent3"/>
                </a:solidFill>
              </a:rPr>
              <a:t>Enables </a:t>
            </a:r>
            <a:r>
              <a:rPr lang="en-US" sz="3200" b="1" dirty="0">
                <a:solidFill>
                  <a:schemeClr val="accent3"/>
                </a:solidFill>
              </a:rPr>
              <a:t>remote patient monitoring</a:t>
            </a:r>
            <a:r>
              <a:rPr lang="en-US" sz="3200" dirty="0">
                <a:solidFill>
                  <a:schemeClr val="accent3"/>
                </a:solidFill>
              </a:rPr>
              <a:t> from anywhere</a:t>
            </a:r>
            <a:endParaRPr lang="en-IN" sz="31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440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8378EAB-A84A-2E6E-9628-C60642BB2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accent4"/>
                </a:solidFill>
              </a:rPr>
              <a:t>System </a:t>
            </a:r>
            <a:r>
              <a:rPr lang="en-IN" sz="3200" dirty="0" err="1">
                <a:solidFill>
                  <a:schemeClr val="accent4"/>
                </a:solidFill>
              </a:rPr>
              <a:t>Articheture</a:t>
            </a:r>
            <a:r>
              <a:rPr lang="en-IN" sz="3200" dirty="0">
                <a:solidFill>
                  <a:schemeClr val="accent4"/>
                </a:solidFill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E47A30-7634-4B11-1876-A8A9F0B85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458" y="1602043"/>
            <a:ext cx="7030065" cy="464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58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40CB0-8757-7494-216D-0D8963744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541" y="0"/>
            <a:ext cx="8981673" cy="6074979"/>
          </a:xfrm>
        </p:spPr>
        <p:txBody>
          <a:bodyPr>
            <a:normAutofit fontScale="9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200" b="1" dirty="0">
                <a:latin typeface="Algerian" panose="04020705040A02060702" pitchFamily="82" charset="0"/>
              </a:rPr>
              <a:t>Components Explanation</a:t>
            </a:r>
            <a:br>
              <a:rPr lang="en-IN" sz="2200" b="1" dirty="0">
                <a:latin typeface="Algerian" panose="04020705040A02060702" pitchFamily="82" charset="0"/>
              </a:rPr>
            </a:br>
            <a:br>
              <a:rPr lang="en-IN" sz="2200" b="1" dirty="0">
                <a:latin typeface="Algerian" panose="04020705040A02060702" pitchFamily="82" charset="0"/>
              </a:rPr>
            </a:br>
            <a:br>
              <a:rPr lang="en-IN" sz="2200" b="1" dirty="0">
                <a:latin typeface="Algerian" panose="04020705040A02060702" pitchFamily="82" charset="0"/>
              </a:rPr>
            </a:br>
            <a:r>
              <a:rPr lang="en-IN" sz="2400" b="1" dirty="0">
                <a:solidFill>
                  <a:schemeClr val="accent3"/>
                </a:solidFill>
              </a:rPr>
              <a:t>Health Sensors</a:t>
            </a:r>
            <a:br>
              <a:rPr lang="en-IN" sz="2400" b="1" dirty="0">
                <a:solidFill>
                  <a:schemeClr val="accent3"/>
                </a:solidFill>
              </a:rPr>
            </a:br>
            <a:r>
              <a:rPr lang="en-IN" sz="2400" dirty="0">
                <a:solidFill>
                  <a:schemeClr val="accent3"/>
                </a:solidFill>
              </a:rPr>
              <a:t>Collect vital parameters:</a:t>
            </a:r>
            <a:br>
              <a:rPr lang="en-IN" sz="2400" dirty="0">
                <a:solidFill>
                  <a:schemeClr val="accent3"/>
                </a:solidFill>
              </a:rPr>
            </a:br>
            <a:r>
              <a:rPr lang="en-IN" sz="2400" dirty="0">
                <a:solidFill>
                  <a:schemeClr val="accent3"/>
                </a:solidFill>
              </a:rPr>
              <a:t>Heart Rate</a:t>
            </a:r>
            <a:br>
              <a:rPr lang="en-IN" sz="2400" dirty="0">
                <a:solidFill>
                  <a:schemeClr val="accent3"/>
                </a:solidFill>
              </a:rPr>
            </a:br>
            <a:r>
              <a:rPr lang="en-IN" sz="2400" dirty="0">
                <a:solidFill>
                  <a:schemeClr val="accent3"/>
                </a:solidFill>
              </a:rPr>
              <a:t>SpO₂</a:t>
            </a:r>
            <a:br>
              <a:rPr lang="en-IN" sz="2400" dirty="0">
                <a:solidFill>
                  <a:schemeClr val="accent3"/>
                </a:solidFill>
              </a:rPr>
            </a:br>
            <a:r>
              <a:rPr lang="en-IN" sz="2400" dirty="0">
                <a:solidFill>
                  <a:schemeClr val="accent3"/>
                </a:solidFill>
              </a:rPr>
              <a:t>Body Temperature</a:t>
            </a:r>
            <a:br>
              <a:rPr lang="en-IN" sz="2400" dirty="0">
                <a:solidFill>
                  <a:schemeClr val="accent3"/>
                </a:solidFill>
              </a:rPr>
            </a:br>
            <a:r>
              <a:rPr lang="en-IN" sz="2400" b="1" dirty="0">
                <a:solidFill>
                  <a:schemeClr val="accent3"/>
                </a:solidFill>
              </a:rPr>
              <a:t> IoT Device (ESP32 / Arduino)</a:t>
            </a:r>
            <a:br>
              <a:rPr lang="en-IN" sz="2400" b="1" dirty="0">
                <a:solidFill>
                  <a:schemeClr val="accent3"/>
                </a:solidFill>
              </a:rPr>
            </a:br>
            <a:r>
              <a:rPr lang="en-IN" sz="2400" dirty="0">
                <a:solidFill>
                  <a:schemeClr val="accent3"/>
                </a:solidFill>
              </a:rPr>
              <a:t>Reads sensor values</a:t>
            </a:r>
            <a:br>
              <a:rPr lang="en-IN" sz="2400" dirty="0">
                <a:solidFill>
                  <a:schemeClr val="accent3"/>
                </a:solidFill>
              </a:rPr>
            </a:br>
            <a:r>
              <a:rPr lang="en-IN" sz="2400" dirty="0">
                <a:solidFill>
                  <a:schemeClr val="accent3"/>
                </a:solidFill>
              </a:rPr>
              <a:t>Sends data to Firebase using Wi-Fi</a:t>
            </a:r>
            <a:br>
              <a:rPr lang="en-IN" sz="2400" dirty="0">
                <a:solidFill>
                  <a:schemeClr val="accent3"/>
                </a:solidFill>
              </a:rPr>
            </a:br>
            <a:r>
              <a:rPr lang="en-IN" sz="2400" b="1" dirty="0">
                <a:solidFill>
                  <a:schemeClr val="accent3"/>
                </a:solidFill>
              </a:rPr>
              <a:t>Firebase Realtime Database</a:t>
            </a:r>
            <a:br>
              <a:rPr lang="en-IN" sz="2400" b="1" dirty="0">
                <a:solidFill>
                  <a:schemeClr val="accent3"/>
                </a:solidFill>
              </a:rPr>
            </a:br>
            <a:r>
              <a:rPr lang="en-IN" sz="2400" dirty="0">
                <a:solidFill>
                  <a:schemeClr val="accent3"/>
                </a:solidFill>
              </a:rPr>
              <a:t>Stores patient health data</a:t>
            </a:r>
            <a:br>
              <a:rPr lang="en-IN" sz="2400" dirty="0">
                <a:solidFill>
                  <a:schemeClr val="accent3"/>
                </a:solidFill>
              </a:rPr>
            </a:br>
            <a:r>
              <a:rPr lang="en-IN" sz="2400" dirty="0">
                <a:solidFill>
                  <a:schemeClr val="accent3"/>
                </a:solidFill>
              </a:rPr>
              <a:t>Provides real-time updates instantly</a:t>
            </a:r>
            <a:br>
              <a:rPr lang="en-IN" sz="2400" dirty="0">
                <a:solidFill>
                  <a:schemeClr val="accent3"/>
                </a:solidFill>
              </a:rPr>
            </a:br>
            <a:br>
              <a:rPr lang="en-IN" sz="2400" dirty="0">
                <a:solidFill>
                  <a:schemeClr val="accent3"/>
                </a:solidFill>
              </a:rPr>
            </a:br>
            <a:br>
              <a:rPr lang="en-IN" sz="2400" dirty="0">
                <a:solidFill>
                  <a:schemeClr val="accent3"/>
                </a:solidFill>
              </a:rPr>
            </a:br>
            <a:endParaRPr lang="en-IN" sz="2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2523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F97E8-42DF-5459-E74E-5417909F7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257175"/>
            <a:ext cx="9041853" cy="6049031"/>
          </a:xfrm>
        </p:spPr>
        <p:txBody>
          <a:bodyPr>
            <a:normAutofit fontScale="90000"/>
          </a:bodyPr>
          <a:lstStyle/>
          <a:p>
            <a:r>
              <a:rPr lang="en-IN" sz="3100" dirty="0"/>
              <a:t>Technologies Used:</a:t>
            </a:r>
            <a:br>
              <a:rPr lang="en-IN" sz="3100" dirty="0"/>
            </a:br>
            <a:r>
              <a:rPr lang="en-US" sz="3100" b="1" dirty="0">
                <a:solidFill>
                  <a:schemeClr val="accent4"/>
                </a:solidFill>
              </a:rPr>
              <a:t>Frontend:</a:t>
            </a:r>
            <a:br>
              <a:rPr lang="en-US" sz="3100" b="1" dirty="0">
                <a:solidFill>
                  <a:schemeClr val="accent4"/>
                </a:solidFill>
              </a:rPr>
            </a:br>
            <a:r>
              <a:rPr lang="en-US" sz="3100" dirty="0">
                <a:solidFill>
                  <a:schemeClr val="accent4"/>
                </a:solidFill>
              </a:rPr>
              <a:t>HTML</a:t>
            </a:r>
            <a:br>
              <a:rPr lang="en-US" sz="3100" dirty="0">
                <a:solidFill>
                  <a:schemeClr val="accent4"/>
                </a:solidFill>
              </a:rPr>
            </a:br>
            <a:r>
              <a:rPr lang="en-US" sz="3100" dirty="0">
                <a:solidFill>
                  <a:schemeClr val="accent4"/>
                </a:solidFill>
              </a:rPr>
              <a:t>CSS</a:t>
            </a:r>
            <a:br>
              <a:rPr lang="en-US" sz="3100" dirty="0">
                <a:solidFill>
                  <a:schemeClr val="accent4"/>
                </a:solidFill>
              </a:rPr>
            </a:br>
            <a:r>
              <a:rPr lang="en-US" sz="3100" dirty="0">
                <a:solidFill>
                  <a:schemeClr val="accent4"/>
                </a:solidFill>
              </a:rPr>
              <a:t>JavaScript</a:t>
            </a:r>
            <a:br>
              <a:rPr lang="en-US" dirty="0">
                <a:solidFill>
                  <a:schemeClr val="accent4"/>
                </a:solidFill>
              </a:rPr>
            </a:br>
            <a:r>
              <a:rPr lang="en-US" sz="3100" b="1" dirty="0">
                <a:solidFill>
                  <a:schemeClr val="accent4"/>
                </a:solidFill>
              </a:rPr>
              <a:t>Backend</a:t>
            </a:r>
            <a:br>
              <a:rPr lang="en-US" sz="3100" b="1" dirty="0">
                <a:solidFill>
                  <a:schemeClr val="accent4"/>
                </a:solidFill>
              </a:rPr>
            </a:br>
            <a:r>
              <a:rPr lang="en-US" sz="3100" dirty="0">
                <a:solidFill>
                  <a:schemeClr val="accent4"/>
                </a:solidFill>
              </a:rPr>
              <a:t>Firebase Realtime Database</a:t>
            </a:r>
            <a:br>
              <a:rPr lang="en-US" sz="3100" dirty="0">
                <a:solidFill>
                  <a:schemeClr val="accent4"/>
                </a:solidFill>
              </a:rPr>
            </a:br>
            <a:r>
              <a:rPr lang="en-US" sz="3100" dirty="0">
                <a:solidFill>
                  <a:schemeClr val="accent4"/>
                </a:solidFill>
              </a:rPr>
              <a:t>Firebase Authentication</a:t>
            </a:r>
            <a:br>
              <a:rPr lang="en-US" sz="3100" dirty="0">
                <a:solidFill>
                  <a:schemeClr val="accent4"/>
                </a:solidFill>
              </a:rPr>
            </a:br>
            <a:r>
              <a:rPr lang="en-IN" sz="3100" b="1" dirty="0">
                <a:solidFill>
                  <a:schemeClr val="accent4"/>
                </a:solidFill>
              </a:rPr>
              <a:t>Database</a:t>
            </a:r>
            <a:br>
              <a:rPr lang="en-IN" sz="3100" b="1" dirty="0">
                <a:solidFill>
                  <a:schemeClr val="accent4"/>
                </a:solidFill>
              </a:rPr>
            </a:br>
            <a:r>
              <a:rPr lang="en-IN" sz="3100" dirty="0">
                <a:solidFill>
                  <a:schemeClr val="accent4"/>
                </a:solidFill>
              </a:rPr>
              <a:t>Firebase Realtime Database (Cloud-based)</a:t>
            </a:r>
            <a:br>
              <a:rPr lang="en-IN" sz="3100" dirty="0">
                <a:solidFill>
                  <a:schemeClr val="accent4"/>
                </a:solidFill>
              </a:rPr>
            </a:br>
            <a:r>
              <a:rPr lang="en-IN" sz="3100" b="1" dirty="0">
                <a:solidFill>
                  <a:schemeClr val="accent4"/>
                </a:solidFill>
              </a:rPr>
              <a:t>Tools &amp; Libraries</a:t>
            </a:r>
            <a:br>
              <a:rPr lang="en-IN" sz="3100" b="1" dirty="0">
                <a:solidFill>
                  <a:schemeClr val="accent4"/>
                </a:solidFill>
              </a:rPr>
            </a:br>
            <a:r>
              <a:rPr lang="en-IN" sz="3100" dirty="0">
                <a:solidFill>
                  <a:schemeClr val="accent4"/>
                </a:solidFill>
              </a:rPr>
              <a:t>Firebase SDK</a:t>
            </a:r>
            <a:br>
              <a:rPr lang="en-IN" sz="3100" dirty="0">
                <a:solidFill>
                  <a:schemeClr val="accent4"/>
                </a:solidFill>
              </a:rPr>
            </a:br>
            <a:r>
              <a:rPr lang="en-IN" sz="3100" dirty="0">
                <a:solidFill>
                  <a:schemeClr val="accent4"/>
                </a:solidFill>
              </a:rPr>
              <a:t>Visual Studio Code</a:t>
            </a:r>
            <a:br>
              <a:rPr lang="en-IN" sz="3100" dirty="0">
                <a:solidFill>
                  <a:schemeClr val="accent4"/>
                </a:solidFill>
              </a:rPr>
            </a:br>
            <a:r>
              <a:rPr lang="en-IN" sz="3100" dirty="0">
                <a:solidFill>
                  <a:schemeClr val="accent4"/>
                </a:solidFill>
              </a:rPr>
              <a:t>Web Browser </a:t>
            </a:r>
            <a:br>
              <a:rPr lang="en-IN" sz="3100" dirty="0"/>
            </a:br>
            <a:br>
              <a:rPr lang="en-US" dirty="0">
                <a:solidFill>
                  <a:schemeClr val="accent4"/>
                </a:solidFill>
              </a:rPr>
            </a:br>
            <a:br>
              <a:rPr lang="en-IN" dirty="0">
                <a:solidFill>
                  <a:schemeClr val="accent4"/>
                </a:solidFill>
              </a:rPr>
            </a:br>
            <a:endParaRPr lang="en-IN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324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A0A2-5026-02D6-8B71-0DBE54CDB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07" y="589502"/>
            <a:ext cx="8596668" cy="4565301"/>
          </a:xfrm>
        </p:spPr>
        <p:txBody>
          <a:bodyPr>
            <a:normAutofit fontScale="90000"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200" b="1" dirty="0"/>
              <a:t>Module 1: User Authentication &amp; Profile Management</a:t>
            </a:r>
            <a:br>
              <a:rPr lang="en-US" b="1" dirty="0"/>
            </a:br>
            <a:r>
              <a:rPr lang="en-US" sz="2200" dirty="0">
                <a:solidFill>
                  <a:schemeClr val="accent3"/>
                </a:solidFill>
              </a:rPr>
              <a:t>Handles </a:t>
            </a:r>
            <a:r>
              <a:rPr lang="en-US" sz="2200" b="1" dirty="0">
                <a:solidFill>
                  <a:schemeClr val="accent3"/>
                </a:solidFill>
              </a:rPr>
              <a:t>user registration and login</a:t>
            </a:r>
            <a:r>
              <a:rPr lang="en-US" sz="2200" dirty="0">
                <a:solidFill>
                  <a:schemeClr val="accent3"/>
                </a:solidFill>
              </a:rPr>
              <a:t> (patients/doctors/admin).</a:t>
            </a:r>
            <a:br>
              <a:rPr lang="en-US" sz="2200" dirty="0">
                <a:solidFill>
                  <a:schemeClr val="accent3"/>
                </a:solidFill>
              </a:rPr>
            </a:br>
            <a:r>
              <a:rPr lang="en-US" sz="2200" dirty="0">
                <a:solidFill>
                  <a:schemeClr val="accent3"/>
                </a:solidFill>
              </a:rPr>
              <a:t>Stores user details securely in the database.</a:t>
            </a:r>
            <a:br>
              <a:rPr lang="en-US" sz="2200" dirty="0">
                <a:solidFill>
                  <a:schemeClr val="accent3"/>
                </a:solidFill>
              </a:rPr>
            </a:br>
            <a:r>
              <a:rPr lang="en-US" sz="2200" dirty="0">
                <a:solidFill>
                  <a:schemeClr val="accent3"/>
                </a:solidFill>
              </a:rPr>
              <a:t>Ensures </a:t>
            </a:r>
            <a:r>
              <a:rPr lang="en-US" sz="2200" b="1" dirty="0" err="1">
                <a:solidFill>
                  <a:schemeClr val="accent3"/>
                </a:solidFill>
              </a:rPr>
              <a:t>authorised</a:t>
            </a:r>
            <a:r>
              <a:rPr lang="en-US" sz="2200" b="1" dirty="0">
                <a:solidFill>
                  <a:schemeClr val="accent3"/>
                </a:solidFill>
              </a:rPr>
              <a:t> access</a:t>
            </a:r>
            <a:r>
              <a:rPr lang="en-US" sz="2200" dirty="0">
                <a:solidFill>
                  <a:schemeClr val="accent3"/>
                </a:solidFill>
              </a:rPr>
              <a:t> to the system using authentication mechanisms.</a:t>
            </a:r>
            <a:br>
              <a:rPr lang="en-US" sz="2200" dirty="0">
                <a:solidFill>
                  <a:schemeClr val="accent3"/>
                </a:solidFill>
              </a:rPr>
            </a:br>
            <a:r>
              <a:rPr lang="en-US" sz="2200" dirty="0">
                <a:solidFill>
                  <a:schemeClr val="accent3"/>
                </a:solidFill>
              </a:rPr>
              <a:t>Manages user roles and basic profile information.</a:t>
            </a:r>
            <a:br>
              <a:rPr lang="en-US" sz="2200" dirty="0">
                <a:solidFill>
                  <a:schemeClr val="accent3"/>
                </a:solidFill>
              </a:rPr>
            </a:br>
            <a:r>
              <a:rPr lang="en-US" sz="2700" b="1" dirty="0"/>
              <a:t>Module 2: Health Data Monitoring &amp; Collection</a:t>
            </a:r>
            <a:br>
              <a:rPr lang="en-US" sz="2700" b="1" dirty="0">
                <a:solidFill>
                  <a:schemeClr val="accent3"/>
                </a:solidFill>
              </a:rPr>
            </a:br>
            <a:r>
              <a:rPr lang="en-US" sz="2200" dirty="0">
                <a:solidFill>
                  <a:schemeClr val="accent3"/>
                </a:solidFill>
              </a:rPr>
              <a:t>Collects real-time health parameters such as </a:t>
            </a:r>
            <a:r>
              <a:rPr lang="en-US" sz="2200" b="1" dirty="0">
                <a:solidFill>
                  <a:schemeClr val="accent3"/>
                </a:solidFill>
              </a:rPr>
              <a:t>heart rate, temperature, and oxygen levels</a:t>
            </a:r>
            <a:r>
              <a:rPr lang="en-US" sz="2200" dirty="0">
                <a:solidFill>
                  <a:schemeClr val="accent3"/>
                </a:solidFill>
              </a:rPr>
              <a:t>.</a:t>
            </a:r>
            <a:br>
              <a:rPr lang="en-US" sz="2200" dirty="0">
                <a:solidFill>
                  <a:schemeClr val="accent3"/>
                </a:solidFill>
              </a:rPr>
            </a:br>
            <a:r>
              <a:rPr lang="en-US" sz="2200" dirty="0">
                <a:solidFill>
                  <a:schemeClr val="accent3"/>
                </a:solidFill>
              </a:rPr>
              <a:t>Receives data from sensors / IoT devices (or manual input for testing).</a:t>
            </a:r>
            <a:br>
              <a:rPr lang="en-US" sz="2200" dirty="0">
                <a:solidFill>
                  <a:schemeClr val="accent3"/>
                </a:solidFill>
              </a:rPr>
            </a:br>
            <a:r>
              <a:rPr lang="en-US" sz="2200" dirty="0">
                <a:solidFill>
                  <a:schemeClr val="accent3"/>
                </a:solidFill>
              </a:rPr>
              <a:t>Stores health data in the </a:t>
            </a:r>
            <a:r>
              <a:rPr lang="en-US" sz="2200" b="1" dirty="0">
                <a:solidFill>
                  <a:schemeClr val="accent3"/>
                </a:solidFill>
              </a:rPr>
              <a:t>cloud database (Firebase)</a:t>
            </a:r>
            <a:r>
              <a:rPr lang="en-US" sz="2200" dirty="0">
                <a:solidFill>
                  <a:schemeClr val="accent3"/>
                </a:solidFill>
              </a:rPr>
              <a:t>.</a:t>
            </a:r>
            <a:br>
              <a:rPr lang="en-US" sz="2200" dirty="0">
                <a:solidFill>
                  <a:schemeClr val="accent3"/>
                </a:solidFill>
              </a:rPr>
            </a:br>
            <a:r>
              <a:rPr lang="en-US" sz="2200" dirty="0">
                <a:solidFill>
                  <a:schemeClr val="accent3"/>
                </a:solidFill>
              </a:rPr>
              <a:t>Continuously updates patient health records</a:t>
            </a:r>
            <a:r>
              <a:rPr lang="en-US" sz="2200" dirty="0"/>
              <a:t>.</a:t>
            </a:r>
            <a:br>
              <a:rPr lang="en-US" dirty="0"/>
            </a:br>
            <a:r>
              <a:rPr lang="en-US" sz="2700" b="1" dirty="0"/>
              <a:t>Module 3: Dashboard, Alerts &amp; Data </a:t>
            </a:r>
            <a:r>
              <a:rPr lang="en-US" sz="2700" b="1" dirty="0" err="1"/>
              <a:t>Visualisation</a:t>
            </a:r>
            <a:br>
              <a:rPr lang="en-US" sz="2700" b="1" dirty="0"/>
            </a:br>
            <a:r>
              <a:rPr lang="en-US" sz="2700" dirty="0">
                <a:solidFill>
                  <a:schemeClr val="accent3"/>
                </a:solidFill>
              </a:rPr>
              <a:t>Displays real-time health data on an interactive </a:t>
            </a:r>
            <a:r>
              <a:rPr lang="en-US" sz="2700" b="1" dirty="0">
                <a:solidFill>
                  <a:schemeClr val="accent3"/>
                </a:solidFill>
              </a:rPr>
              <a:t>dashboard</a:t>
            </a:r>
            <a:r>
              <a:rPr lang="en-US" sz="2700" b="1" dirty="0"/>
              <a:t>.</a:t>
            </a:r>
            <a:br>
              <a:rPr lang="en-US" sz="2700" dirty="0"/>
            </a:b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AAFF28-42E1-9612-3AD7-6552CDD97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417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B5A2-6524-CB9A-32DD-7C406441C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599"/>
            <a:ext cx="8685741" cy="5629276"/>
          </a:xfrm>
        </p:spPr>
        <p:txBody>
          <a:bodyPr>
            <a:normAutofit fontScale="90000"/>
          </a:bodyPr>
          <a:lstStyle/>
          <a:p>
            <a:r>
              <a:rPr lang="en-IN" sz="2800" dirty="0"/>
              <a:t>Implementation Status:</a:t>
            </a:r>
            <a:br>
              <a:rPr lang="en-IN" sz="2800" dirty="0"/>
            </a:br>
            <a:br>
              <a:rPr lang="en-IN" sz="2800" dirty="0"/>
            </a:br>
            <a:r>
              <a:rPr lang="en-IN" sz="2000" dirty="0">
                <a:solidFill>
                  <a:schemeClr val="accent4"/>
                </a:solidFill>
              </a:rPr>
              <a:t>U</a:t>
            </a:r>
            <a: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  <a:t>ser Interface</a:t>
            </a:r>
            <a:br>
              <a:rPr lang="en-US" altLang="en-US" sz="2800" dirty="0">
                <a:solidFill>
                  <a:schemeClr val="accent4"/>
                </a:solidFill>
                <a:latin typeface="Arial" panose="020B0604020202020204" pitchFamily="34" charset="0"/>
              </a:rPr>
            </a:br>
            <a:b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  <a:t>Real-time Health Data Display</a:t>
            </a:r>
            <a:b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</a:br>
            <a:b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  <a:t>Firebase Realtime Database Integration</a:t>
            </a:r>
            <a:b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</a:br>
            <a:b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  <a:t>Live data fetching and UI updates</a:t>
            </a:r>
            <a:b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</a:br>
            <a:b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  <a:t>40% project status</a:t>
            </a:r>
            <a:br>
              <a:rPr lang="en-US" altLang="en-US" sz="2000" dirty="0">
                <a:solidFill>
                  <a:schemeClr val="accent4"/>
                </a:solidFill>
                <a:latin typeface="Arial" panose="020B0604020202020204" pitchFamily="34" charset="0"/>
              </a:rPr>
            </a:br>
            <a:br>
              <a:rPr lang="en-US" sz="2200" dirty="0">
                <a:solidFill>
                  <a:schemeClr val="accent3"/>
                </a:solidFill>
              </a:rPr>
            </a:br>
            <a:br>
              <a:rPr lang="en-US" altLang="en-US" sz="2200" dirty="0">
                <a:solidFill>
                  <a:schemeClr val="accent3"/>
                </a:solidFill>
                <a:latin typeface="Arial" panose="020B0604020202020204" pitchFamily="34" charset="0"/>
              </a:rPr>
            </a:br>
            <a:br>
              <a:rPr lang="en-US" altLang="en-US" sz="2800" dirty="0">
                <a:solidFill>
                  <a:schemeClr val="accent4"/>
                </a:solidFill>
                <a:latin typeface="Arial" panose="020B0604020202020204" pitchFamily="34" charset="0"/>
              </a:rPr>
            </a:br>
            <a:br>
              <a:rPr lang="en-IN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8650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421510-7ADE-8493-0027-C4BE44F0A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06" y="790574"/>
            <a:ext cx="8717986" cy="442912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C397297-61F7-795C-C6E8-C17A8BD13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276224"/>
            <a:ext cx="7448549" cy="409575"/>
          </a:xfrm>
        </p:spPr>
        <p:txBody>
          <a:bodyPr>
            <a:normAutofit fontScale="90000"/>
          </a:bodyPr>
          <a:lstStyle/>
          <a:p>
            <a:r>
              <a:rPr lang="en-IN" dirty="0"/>
              <a:t>Registration page:</a:t>
            </a:r>
          </a:p>
        </p:txBody>
      </p:sp>
    </p:spTree>
    <p:extLst>
      <p:ext uri="{BB962C8B-B14F-4D97-AF65-F5344CB8AC3E}">
        <p14:creationId xmlns:p14="http://schemas.microsoft.com/office/powerpoint/2010/main" val="1380503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7FDF0-1027-D2F6-6295-8A5E677D5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0" y="609600"/>
            <a:ext cx="8596313" cy="1320800"/>
          </a:xfrm>
        </p:spPr>
        <p:txBody>
          <a:bodyPr/>
          <a:lstStyle/>
          <a:p>
            <a:r>
              <a:rPr lang="en-IN" dirty="0"/>
              <a:t>Login page: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F3D19-E876-B0D2-3A93-6A46D81C9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750241"/>
            <a:ext cx="7277535" cy="413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590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3038EC-0649-1C12-09A0-AB6A93F52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page: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CD120E-CA2F-A777-04BC-45B927C9A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944" y="1930400"/>
            <a:ext cx="8285656" cy="3503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3513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93BE3-7791-4BCC-20A6-69A2A4C4F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688" y="973393"/>
            <a:ext cx="8732137" cy="5388077"/>
          </a:xfrm>
        </p:spPr>
        <p:txBody>
          <a:bodyPr>
            <a:normAutofit fontScale="90000"/>
          </a:bodyPr>
          <a:lstStyle/>
          <a:p>
            <a:r>
              <a:rPr lang="en-IN" dirty="0"/>
              <a:t>Conclusion:</a:t>
            </a:r>
            <a:br>
              <a:rPr lang="en-IN" dirty="0"/>
            </a:br>
            <a:r>
              <a:rPr lang="en-US" sz="2200" b="1" dirty="0">
                <a:solidFill>
                  <a:schemeClr val="accent3"/>
                </a:solidFill>
              </a:rPr>
              <a:t>Project Summary:</a:t>
            </a:r>
            <a:br>
              <a:rPr lang="en-US" sz="2200" b="1" dirty="0">
                <a:solidFill>
                  <a:schemeClr val="accent3"/>
                </a:solidFill>
              </a:rPr>
            </a:br>
            <a:br>
              <a:rPr lang="en-US" sz="2000" b="1" dirty="0">
                <a:solidFill>
                  <a:schemeClr val="accent3"/>
                </a:solidFill>
              </a:rPr>
            </a:br>
            <a:r>
              <a:rPr lang="en-US" sz="2000" dirty="0">
                <a:solidFill>
                  <a:schemeClr val="accent3"/>
                </a:solidFill>
                <a:latin typeface="Abadi" panose="020F0502020204030204" pitchFamily="34" charset="0"/>
              </a:rPr>
              <a:t>The Smart Health Care Monitoring System provides a </a:t>
            </a:r>
            <a:r>
              <a:rPr lang="en-US" sz="2000" b="1" dirty="0">
                <a:solidFill>
                  <a:schemeClr val="accent3"/>
                </a:solidFill>
                <a:latin typeface="Abadi" panose="020F0502020204030204" pitchFamily="34" charset="0"/>
              </a:rPr>
              <a:t>reliable and efficient solution</a:t>
            </a:r>
            <a:r>
              <a:rPr lang="en-US" sz="2000" dirty="0">
                <a:solidFill>
                  <a:schemeClr val="accent3"/>
                </a:solidFill>
                <a:latin typeface="Abadi" panose="020F0502020204030204" pitchFamily="34" charset="0"/>
              </a:rPr>
              <a:t> for monitoring patient health remotely.</a:t>
            </a:r>
            <a:br>
              <a:rPr lang="en-US" sz="2000" dirty="0">
                <a:solidFill>
                  <a:schemeClr val="accent3"/>
                </a:solidFill>
                <a:latin typeface="Abadi" panose="020F0502020204030204" pitchFamily="34" charset="0"/>
              </a:rPr>
            </a:br>
            <a:r>
              <a:rPr lang="en-US" sz="2000" dirty="0">
                <a:solidFill>
                  <a:schemeClr val="accent3"/>
                </a:solidFill>
                <a:latin typeface="Abadi" panose="020F0502020204030204" pitchFamily="34" charset="0"/>
              </a:rPr>
              <a:t>It integrates </a:t>
            </a:r>
            <a:r>
              <a:rPr lang="en-US" sz="2000" b="1" dirty="0">
                <a:solidFill>
                  <a:schemeClr val="accent3"/>
                </a:solidFill>
                <a:latin typeface="Abadi" panose="020F0502020204030204" pitchFamily="34" charset="0"/>
              </a:rPr>
              <a:t>real-time data collection, cloud storage, and web-based dashboards</a:t>
            </a:r>
            <a:r>
              <a:rPr lang="en-US" sz="2000" dirty="0">
                <a:solidFill>
                  <a:schemeClr val="accent3"/>
                </a:solidFill>
                <a:latin typeface="Abadi" panose="020F0502020204030204" pitchFamily="34" charset="0"/>
              </a:rPr>
              <a:t> for continuous health tracking.</a:t>
            </a:r>
            <a:br>
              <a:rPr lang="en-US" sz="2000" dirty="0">
                <a:solidFill>
                  <a:schemeClr val="accent3"/>
                </a:solidFill>
                <a:latin typeface="Abadi" panose="020F0502020204030204" pitchFamily="34" charset="0"/>
              </a:rPr>
            </a:br>
            <a:r>
              <a:rPr lang="en-US" sz="2000" dirty="0">
                <a:solidFill>
                  <a:schemeClr val="accent3"/>
                </a:solidFill>
                <a:latin typeface="Abadi" panose="020F0502020204030204" pitchFamily="34" charset="0"/>
              </a:rPr>
              <a:t>The system improves healthcare accessibility by enabling </a:t>
            </a:r>
            <a:r>
              <a:rPr lang="en-US" sz="2000" b="1" dirty="0">
                <a:solidFill>
                  <a:schemeClr val="accent3"/>
                </a:solidFill>
                <a:latin typeface="Abadi" panose="020F0502020204030204" pitchFamily="34" charset="0"/>
              </a:rPr>
              <a:t>remote monitoring and quick response</a:t>
            </a:r>
            <a:r>
              <a:rPr lang="en-US" sz="2000" dirty="0">
                <a:solidFill>
                  <a:schemeClr val="accent3"/>
                </a:solidFill>
                <a:latin typeface="Abadi" panose="020F0502020204030204" pitchFamily="34" charset="0"/>
              </a:rPr>
              <a:t> to critical health conditions.</a:t>
            </a:r>
            <a:br>
              <a:rPr lang="en-US" sz="2000" dirty="0">
                <a:solidFill>
                  <a:schemeClr val="accent3"/>
                </a:solidFill>
                <a:latin typeface="Abadi" panose="020F0502020204030204" pitchFamily="34" charset="0"/>
              </a:rPr>
            </a:br>
            <a:r>
              <a:rPr lang="en-US" sz="2000" dirty="0">
                <a:solidFill>
                  <a:schemeClr val="accent3"/>
                </a:solidFill>
                <a:latin typeface="Abadi" panose="020F0502020204030204" pitchFamily="34" charset="0"/>
              </a:rPr>
              <a:t>Cloud-based architecture ensures </a:t>
            </a:r>
            <a:r>
              <a:rPr lang="en-US" sz="2000" b="1" dirty="0">
                <a:solidFill>
                  <a:schemeClr val="accent3"/>
                </a:solidFill>
                <a:latin typeface="Abadi" panose="020F0502020204030204" pitchFamily="34" charset="0"/>
              </a:rPr>
              <a:t>scalability, security, and easy data management</a:t>
            </a:r>
            <a:r>
              <a:rPr lang="en-US" sz="2000" dirty="0">
                <a:solidFill>
                  <a:schemeClr val="accent3"/>
                </a:solidFill>
                <a:latin typeface="Abadi" panose="020F0502020204030204" pitchFamily="34" charset="0"/>
              </a:rPr>
              <a:t>.</a:t>
            </a:r>
            <a:br>
              <a:rPr lang="en-US" sz="2000" dirty="0">
                <a:solidFill>
                  <a:schemeClr val="accent3"/>
                </a:solidFill>
                <a:latin typeface="Abadi" panose="020F0502020204030204" pitchFamily="34" charset="0"/>
              </a:rPr>
            </a:br>
            <a:r>
              <a:rPr lang="en-US" sz="3100" b="1" dirty="0"/>
              <a:t>Achievements:</a:t>
            </a:r>
            <a:br>
              <a:rPr lang="en-US" sz="2000" b="1" dirty="0"/>
            </a:br>
            <a:r>
              <a:rPr lang="en-US" sz="2000" dirty="0">
                <a:solidFill>
                  <a:schemeClr val="accent3"/>
                </a:solidFill>
              </a:rPr>
              <a:t>Successfully designed and implemented a </a:t>
            </a:r>
            <a:r>
              <a:rPr lang="en-US" sz="2000" b="1" dirty="0">
                <a:solidFill>
                  <a:schemeClr val="accent3"/>
                </a:solidFill>
              </a:rPr>
              <a:t>real-time health monitoring dashboard</a:t>
            </a:r>
            <a:r>
              <a:rPr lang="en-US" sz="2000" dirty="0">
                <a:solidFill>
                  <a:schemeClr val="accent3"/>
                </a:solidFill>
              </a:rPr>
              <a:t>.</a:t>
            </a:r>
            <a:br>
              <a:rPr lang="en-US" sz="2000" dirty="0">
                <a:solidFill>
                  <a:schemeClr val="accent3"/>
                </a:solidFill>
              </a:rPr>
            </a:br>
            <a:r>
              <a:rPr lang="en-US" sz="2000" dirty="0">
                <a:solidFill>
                  <a:schemeClr val="accent3"/>
                </a:solidFill>
              </a:rPr>
              <a:t>Achieved </a:t>
            </a:r>
            <a:r>
              <a:rPr lang="en-US" sz="2000" b="1" dirty="0">
                <a:solidFill>
                  <a:schemeClr val="accent3"/>
                </a:solidFill>
              </a:rPr>
              <a:t>secure user authentication and data storage</a:t>
            </a:r>
            <a:r>
              <a:rPr lang="en-US" sz="2000" dirty="0">
                <a:solidFill>
                  <a:schemeClr val="accent3"/>
                </a:solidFill>
              </a:rPr>
              <a:t> using Firebase.</a:t>
            </a:r>
            <a:br>
              <a:rPr lang="en-US" sz="2000" dirty="0">
                <a:solidFill>
                  <a:schemeClr val="accent3"/>
                </a:solidFill>
              </a:rPr>
            </a:br>
            <a:endParaRPr lang="en-IN" sz="2000" dirty="0">
              <a:solidFill>
                <a:schemeClr val="accent3"/>
              </a:solidFill>
              <a:latin typeface="Abad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2055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CA8AFF-D011-A23B-5836-E054B4265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85" y="2595716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accent4"/>
                </a:solidFill>
                <a:latin typeface="Algerian" panose="04020705040A02060702" pitchFamily="82" charset="0"/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6842345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260</TotalTime>
  <Words>747</Words>
  <Application>Microsoft Office PowerPoint</Application>
  <PresentationFormat>Widescreen</PresentationFormat>
  <Paragraphs>82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Abadi</vt:lpstr>
      <vt:lpstr>Algerian</vt:lpstr>
      <vt:lpstr>Aptos</vt:lpstr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title: Smart health care system using IOT           Under the Guidance of: Dr Madhava Rao sir                  </vt:lpstr>
      <vt:lpstr>Problem statement:  </vt:lpstr>
      <vt:lpstr> </vt:lpstr>
      <vt:lpstr>What Is NOT Included: </vt:lpstr>
      <vt:lpstr>Target Users:</vt:lpstr>
      <vt:lpstr>Proposed Solution:  Overview of the Solution: </vt:lpstr>
      <vt:lpstr>Innovation / Uniqueness:  Uses real-time cloud technology instead of manual health tracking  Enables remote patient monitoring from anywhere</vt:lpstr>
      <vt:lpstr>System Articheture:</vt:lpstr>
      <vt:lpstr>Components Explanation   Health Sensors Collect vital parameters: Heart Rate SpO₂ Body Temperature  IoT Device (ESP32 / Arduino) Reads sensor values Sends data to Firebase using Wi-Fi Firebase Realtime Database Stores patient health data Provides real-time updates instantly   </vt:lpstr>
      <vt:lpstr>Technologies Used: Frontend: HTML CSS JavaScript Backend Firebase Realtime Database Firebase Authentication Database Firebase Realtime Database (Cloud-based) Tools &amp; Libraries Firebase SDK Visual Studio Code Web Browser    </vt:lpstr>
      <vt:lpstr>Module 1: User Authentication &amp; Profile Management Handles user registration and login (patients/doctors/admin). Stores user details securely in the database. Ensures authorised access to the system using authentication mechanisms. Manages user roles and basic profile information. Module 2: Health Data Monitoring &amp; Collection Collects real-time health parameters such as heart rate, temperature, and oxygen levels. Receives data from sensors / IoT devices (or manual input for testing). Stores health data in the cloud database (Firebase). Continuously updates patient health records. Module 3: Dashboard, Alerts &amp; Data Visualisation Displays real-time health data on an interactive dashboard. </vt:lpstr>
      <vt:lpstr>Implementation Status:  User Interface  Real-time Health Data Display  Firebase Realtime Database Integration  Live data fetching and UI updates  40% project status     </vt:lpstr>
      <vt:lpstr>Registration page:</vt:lpstr>
      <vt:lpstr>Login page:</vt:lpstr>
      <vt:lpstr>Dashboard page:</vt:lpstr>
      <vt:lpstr>Conclusion: Project Summary:  The Smart Health Care Monitoring System provides a reliable and efficient solution for monitoring patient health remotely. It integrates real-time data collection, cloud storage, and web-based dashboards for continuous health tracking. The system improves healthcare accessibility by enabling remote monitoring and quick response to critical health conditions. Cloud-based architecture ensures scalability, security, and easy data management. Achievements: Successfully designed and implemented a real-time health monitoring dashboard. Achieved secure user authentication and data storage using Firebase. 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GUDAVALLI  BABY SADGURU BHAVANA</dc:creator>
  <cp:lastModifiedBy>GUDAVALLI  BABY SADGURU BHAVANA</cp:lastModifiedBy>
  <cp:revision>7</cp:revision>
  <dcterms:created xsi:type="dcterms:W3CDTF">2026-01-03T04:56:04Z</dcterms:created>
  <dcterms:modified xsi:type="dcterms:W3CDTF">2026-01-06T04:50:54Z</dcterms:modified>
</cp:coreProperties>
</file>